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281c0d8df34068" /><Relationship Type="http://schemas.openxmlformats.org/officeDocument/2006/relationships/extended-properties" Target="/docProps/app.xml" Id="R3c23d098def44ffb" /><Relationship Type="http://schemas.openxmlformats.org/officeDocument/2006/relationships/officeDocument" Target="/ppt/presentation.xml" Id="R733fe8e7651a4f90" /></Relationships>
</file>

<file path=ppt/presentation.xml><?xml version="1.0" encoding="utf-8"?>
<p:presentation xmlns:p="http://schemas.openxmlformats.org/presentationml/2006/main">
  <p:sldMasterIdLst>
    <p:sldMasterId xmlns:r="http://schemas.openxmlformats.org/officeDocument/2006/relationships" id="2147483648" r:id="R8b4434f459284c4f"/>
  </p:sldMasterIdLst>
  <p:notesMasterIdLst>
    <p:notesMasterId xmlns:r="http://schemas.openxmlformats.org/officeDocument/2006/relationships" r:id="Rf7135a08ef884605"/>
  </p:notesMasterIdLst>
  <p:sldIdLst>
    <p:sldId xmlns:r="http://schemas.openxmlformats.org/officeDocument/2006/relationships" id="256" r:id="R3249c58b29024409"/>
    <p:sldId xmlns:r="http://schemas.openxmlformats.org/officeDocument/2006/relationships" id="257" r:id="R30eb6b949b33475a"/>
    <p:sldId xmlns:r="http://schemas.openxmlformats.org/officeDocument/2006/relationships" id="258" r:id="R81dc781230e2426d"/>
    <p:sldId xmlns:r="http://schemas.openxmlformats.org/officeDocument/2006/relationships" id="259" r:id="R06c330ccce9746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459654cd3c44e4" /><Relationship Type="http://schemas.openxmlformats.org/officeDocument/2006/relationships/slideMaster" Target="/ppt/slideMasters/slideMaster1.xml" Id="R8b4434f459284c4f" /><Relationship Type="http://schemas.openxmlformats.org/officeDocument/2006/relationships/notesMaster" Target="/ppt/notesMasters/notesMaster1.xml" Id="Rf7135a08ef884605" /><Relationship Type="http://schemas.openxmlformats.org/officeDocument/2006/relationships/presProps" Target="/ppt/presProps.xml" Id="R0137ab5c59b94379" /><Relationship Type="http://schemas.openxmlformats.org/officeDocument/2006/relationships/tableStyles" Target="/ppt/tableStyles.xml" Id="Rca8131748a394aa7" /><Relationship Type="http://schemas.openxmlformats.org/officeDocument/2006/relationships/slide" Target="/ppt/slides/slide1.xml" Id="R3249c58b29024409" /><Relationship Type="http://schemas.openxmlformats.org/officeDocument/2006/relationships/slide" Target="/ppt/slides/slide2.xml" Id="R30eb6b949b33475a" /><Relationship Type="http://schemas.openxmlformats.org/officeDocument/2006/relationships/slide" Target="/ppt/slides/slide3.xml" Id="R81dc781230e2426d" /><Relationship Type="http://schemas.openxmlformats.org/officeDocument/2006/relationships/slide" Target="/ppt/slides/slide4.xml" Id="R06c330ccce9746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d1231f66da4d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358177523840b9" /><Relationship Type="http://schemas.openxmlformats.org/officeDocument/2006/relationships/notesMaster" Target="/ppt/notesMasters/notesMaster1.xml" Id="Rf481c41a9ec344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017dafa4654630" /><Relationship Type="http://schemas.openxmlformats.org/officeDocument/2006/relationships/notesMaster" Target="/ppt/notesMasters/notesMaster1.xml" Id="R26099732d3ee46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bf74c800b14215" /><Relationship Type="http://schemas.openxmlformats.org/officeDocument/2006/relationships/notesMaster" Target="/ppt/notesMasters/notesMaster1.xml" Id="Rbdc86400e0214f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927b493ff94607" /><Relationship Type="http://schemas.openxmlformats.org/officeDocument/2006/relationships/notesMaster" Target="/ppt/notesMasters/notesMaster1.xml" Id="R5f2158de372848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63c225132340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afa5b84f6441b1" /><Relationship Type="http://schemas.openxmlformats.org/officeDocument/2006/relationships/slideLayout" Target="/ppt/slideLayouts/slideLayout1.xml" Id="Ref7cc0debb0d41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7cc0debb0d41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52947e0bd2946bb" /><Relationship Type="http://schemas.openxmlformats.org/officeDocument/2006/relationships/notesSlide" Target="/ppt/notesSlides/notesSlide1.xml" Id="Rdba2834a2b9e4a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6f42d0534a4674" /><Relationship Type="http://schemas.openxmlformats.org/officeDocument/2006/relationships/notesSlide" Target="/ppt/notesSlides/notesSlide2.xml" Id="R516eb3ed88a64f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86859b3d5d4295" /><Relationship Type="http://schemas.openxmlformats.org/officeDocument/2006/relationships/notesSlide" Target="/ppt/notesSlides/notesSlide3.xml" Id="R03ac51e8c4f945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669acd31054498" /><Relationship Type="http://schemas.openxmlformats.org/officeDocument/2006/relationships/chart" Target="/ppt/slides/charts/chart1.xml" Id="R435a2f31a7fc4ccb" /><Relationship Type="http://schemas.openxmlformats.org/officeDocument/2006/relationships/notesSlide" Target="/ppt/notesSlides/notesSlide4.xml" Id="R87dbf45acf224721" /></Relationships>
</file>

<file path=ppt/slides/charts/chart1.xml><?xml version="1.0" encoding="utf-8"?>
<c:chartSpace xmlns:c="http://schemas.openxmlformats.org/drawingml/2006/chart">
  <c:lang val="en-US"/>
  <c:chart>
    <c:plotArea>
      <c:barChart>
        <c:barDir val="col"/>
        <c:grouping val="clustered"/>
        <c:varyColors val="0"/>
        <c:ser>
          <c:idx val="0"/>
          <c:order val="0"/>
          <c:tx>
            <c:v>Dijkstra tuyến tính</c:v>
          </c:tx>
          <c:spPr>
            <a:solidFill xmlns:a="http://schemas.openxmlformats.org/drawingml/2006/main">
              <a:srgbClr val="94A3B8"/>
            </a:solidFill>
          </c:spPr>
          <c:cat>
            <c:strLit>
              <c:ptCount val="4"/>
              <c:pt idx="0">
                <c:v>100 đỉnh</c:v>
              </c:pt>
              <c:pt idx="1">
                <c:v>500 đỉnh</c:v>
              </c:pt>
              <c:pt idx="2">
                <c:v>1.000 đỉnh</c:v>
              </c:pt>
              <c:pt idx="3">
                <c:v>5.000 đỉnh</c:v>
              </c:pt>
            </c:strLit>
          </c:cat>
          <c:val>
            <c:numLit>
              <c:formatCode>General</c:formatCode>
              <c:ptCount val="4"/>
              <c:pt idx="0">
                <c:v>18</c:v>
              </c:pt>
              <c:pt idx="1">
                <c:v>120</c:v>
              </c:pt>
              <c:pt idx="2">
                <c:v>270</c:v>
              </c:pt>
              <c:pt idx="3">
                <c:v>1700</c:v>
              </c:pt>
            </c:numLit>
          </c:val>
        </c:ser>
        <c:ser>
          <c:idx val="1"/>
          <c:order val="1"/>
          <c:tx>
            <c:v>Dijkstra + heap</c:v>
          </c:tx>
          <c:spPr>
            <a:solidFill xmlns:a="http://schemas.openxmlformats.org/drawingml/2006/main">
              <a:srgbClr val="3D8DFF"/>
            </a:solidFill>
          </c:spPr>
          <c:cat>
            <c:strLit>
              <c:ptCount val="4"/>
              <c:pt idx="0">
                <c:v>100 đỉnh</c:v>
              </c:pt>
              <c:pt idx="1">
                <c:v>500 đỉnh</c:v>
              </c:pt>
              <c:pt idx="2">
                <c:v>1.000 đỉnh</c:v>
              </c:pt>
              <c:pt idx="3">
                <c:v>5.000 đỉnh</c:v>
              </c:pt>
            </c:strLit>
          </c:cat>
          <c:val>
            <c:numLit>
              <c:formatCode>General</c:formatCode>
              <c:ptCount val="4"/>
              <c:pt idx="0">
                <c:v>9</c:v>
              </c:pt>
              <c:pt idx="1">
                <c:v>45</c:v>
              </c:pt>
              <c:pt idx="2">
                <c:v>88</c:v>
              </c:pt>
              <c:pt idx="3">
                <c:v>410</c:v>
              </c:pt>
            </c:numLit>
          </c:val>
        </c:ser>
        <c:dLbls>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2E8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legend>
      <c:legendPos val="b"/>
      <c:overlay val="0"/>
    </c:legend>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cover-kicker">
            <a:extLst xmlns:a="http://schemas.openxmlformats.org/drawingml/2006/main">
              <a:ext uri="{FF2B5EF4-FFF2-40B4-BE49-F238E27FC236}">
                <a16:creationId xmlns:a16="http://schemas.microsoft.com/office/drawing/2014/main" id="{5E66478A-EF9E-4CE8-9CA8-4934A196BDF9}"/>
              </a:ext>
            </a:extLst>
          </p:cNvPr>
          <p:cNvSpPr>
            <a:spLocks xmlns:a="http://schemas.openxmlformats.org/drawingml/2006/main" noGrp="1"/>
          </p:cNvSpPr>
          <p:nvPr/>
        </p:nvSpPr>
        <p:spPr>
          <a:xfrm xmlns:a="http://schemas.openxmlformats.org/drawingml/2006/main">
            <a:off x="514350" y="4381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650" b="1">
                <a:solidFill>
                  <a:srgbClr val="2563EB"/>
                </a:solidFill>
              </a:defRPr>
            </a:pPr>
            <a:r>
              <a:rPr sz="1650" b="1">
                <a:solidFill>
                  <a:srgbClr val="2563EB"/>
                </a:solidFill>
              </a:rPr>
              <a:t>TÀI LIỆU THƯ VIỆN</a:t>
            </a:r>
          </a:p>
        </p:txBody>
      </p:sp>
      <p:sp>
        <p:nvSpPr>
          <p:cNvPr id="2" name="cover-title">
            <a:extLst xmlns:a="http://schemas.openxmlformats.org/drawingml/2006/main">
              <a:ext uri="{FF2B5EF4-FFF2-40B4-BE49-F238E27FC236}">
                <a16:creationId xmlns:a16="http://schemas.microsoft.com/office/drawing/2014/main" id="{A1C0212F-3B17-4F92-A920-14F6D9349F9C}"/>
              </a:ext>
            </a:extLst>
          </p:cNvPr>
          <p:cNvSpPr>
            <a:spLocks xmlns:a="http://schemas.openxmlformats.org/drawingml/2006/main" noGrp="1"/>
          </p:cNvSpPr>
          <p:nvPr/>
        </p:nvSpPr>
        <p:spPr>
          <a:xfrm xmlns:a="http://schemas.openxmlformats.org/drawingml/2006/main">
            <a:off x="514350" y="2143125"/>
            <a:ext cx="6858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defRPr sz="5700" b="1">
                <a:solidFill>
                  <a:srgbClr val="0F172A"/>
                </a:solidFill>
              </a:defRPr>
            </a:pPr>
            <a:r>
              <a:rPr sz="5700" b="1">
                <a:solidFill>
                  <a:srgbClr val="0F172A"/>
                </a:solidFill>
              </a:rPr>
              <a:t>Thuật toán</a:t>
            </a:r>
          </a:p>
          <a:p xmlns:a="http://schemas.openxmlformats.org/drawingml/2006/main">
            <a:pPr>
              <a:defRPr sz="5700" b="1">
                <a:solidFill>
                  <a:srgbClr val="0F172A"/>
                </a:solidFill>
              </a:defRPr>
            </a:pPr>
            <a:r>
              <a:rPr sz="5700" b="1">
                <a:solidFill>
                  <a:srgbClr val="0F172A"/>
                </a:solidFill>
              </a:rPr>
              <a:t>trên đồ thị</a:t>
            </a:r>
          </a:p>
        </p:txBody>
      </p:sp>
      <p:sp>
        <p:nvSpPr>
          <p:cNvPr id="3" name="cover-subtitle">
            <a:extLst xmlns:a="http://schemas.openxmlformats.org/drawingml/2006/main">
              <a:ext uri="{FF2B5EF4-FFF2-40B4-BE49-F238E27FC236}">
                <a16:creationId xmlns:a16="http://schemas.microsoft.com/office/drawing/2014/main" id="{02DA7D75-B189-40B6-9723-AB928BDE0112}"/>
              </a:ext>
            </a:extLst>
          </p:cNvPr>
          <p:cNvSpPr>
            <a:spLocks xmlns:a="http://schemas.openxmlformats.org/drawingml/2006/main" noGrp="1"/>
          </p:cNvSpPr>
          <p:nvPr/>
        </p:nvSpPr>
        <p:spPr>
          <a:xfrm xmlns:a="http://schemas.openxmlformats.org/drawingml/2006/main">
            <a:off x="514350" y="5048250"/>
            <a:ext cx="781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2100">
                <a:solidFill>
                  <a:srgbClr val="475569"/>
                </a:solidFill>
              </a:defRPr>
            </a:pPr>
            <a:r>
              <a:rPr sz="2100">
                <a:solidFill>
                  <a:srgbClr val="475569"/>
                </a:solidFill>
              </a:rPr>
              <a:t>BFS, DFS, Dijkstra và đánh giá độ phức tạp</a:t>
            </a:r>
          </a:p>
        </p:txBody>
      </p:sp>
      <p:sp>
        <p:nvSpPr>
          <p:cNvPr id="4" name="cover-marker">
            <a:extLst xmlns:a="http://schemas.openxmlformats.org/drawingml/2006/main">
              <a:ext uri="{FF2B5EF4-FFF2-40B4-BE49-F238E27FC236}">
                <a16:creationId xmlns:a16="http://schemas.microsoft.com/office/drawing/2014/main" id="{3A8AECCD-5C12-4E3B-846E-CE3586D3CB59}"/>
              </a:ext>
            </a:extLst>
          </p:cNvPr>
          <p:cNvSpPr>
            <a:spLocks xmlns:a="http://schemas.openxmlformats.org/drawingml/2006/main" noGrp="1"/>
          </p:cNvSpPr>
          <p:nvPr/>
        </p:nvSpPr>
        <p:spPr>
          <a:xfrm xmlns:a="http://schemas.openxmlformats.org/drawingml/2006/main">
            <a:off x="8477250" y="5143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350" b="1">
                <a:solidFill>
                  <a:srgbClr val="B91C1C"/>
                </a:solidFill>
              </a:defRPr>
            </a:pPr>
            <a:r>
              <a:rPr sz="1350" b="1">
                <a:solidFill>
                  <a:srgbClr val="B91C1C"/>
                </a:solidFill>
              </a:rPr>
              <a:t>SF-GRAPH-DECK-2026</a:t>
            </a:r>
          </a:p>
        </p:txBody>
      </p:sp>
    </p:spTree>
    <p:extLst>
      <p:ext uri="{BB962C8B-B14F-4D97-AF65-F5344CB8AC3E}">
        <p14:creationId xmlns:p14="http://schemas.microsoft.com/office/powerpoint/2010/main" val="825694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2">
            <a:extLst xmlns:a="http://schemas.openxmlformats.org/drawingml/2006/main">
              <a:ext uri="{FF2B5EF4-FFF2-40B4-BE49-F238E27FC236}">
                <a16:creationId xmlns:a16="http://schemas.microsoft.com/office/drawing/2014/main" id="{8F5CE2B4-DD2E-4A0F-A0A9-F60E4B633F91}"/>
              </a:ext>
            </a:extLst>
          </p:cNvPr>
          <p:cNvSpPr>
            <a:spLocks xmlns:a="http://schemas.openxmlformats.org/drawingml/2006/main" noGrp="1"/>
          </p:cNvSpPr>
          <p:nvPr/>
        </p:nvSpPr>
        <p:spPr>
          <a:xfrm xmlns:a="http://schemas.openxmlformats.org/drawingml/2006/main">
            <a:off x="514350" y="342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3000" b="1">
                <a:solidFill>
                  <a:srgbClr val="0F172A"/>
                </a:solidFill>
              </a:defRPr>
            </a:pPr>
            <a:r>
              <a:rPr sz="3000" b="1">
                <a:solidFill>
                  <a:srgbClr val="0F172A"/>
                </a:solidFill>
              </a:rPr>
              <a:t>BFS và DFS phục vụ hai cách duyệt khác nhau</a:t>
            </a:r>
          </a:p>
        </p:txBody>
      </p:sp>
      <p:sp>
        <p:nvSpPr>
          <p:cNvPr id="2" name="page-2">
            <a:extLst xmlns:a="http://schemas.openxmlformats.org/drawingml/2006/main">
              <a:ext uri="{FF2B5EF4-FFF2-40B4-BE49-F238E27FC236}">
                <a16:creationId xmlns:a16="http://schemas.microsoft.com/office/drawing/2014/main" id="{5BBB331F-40E9-4CBB-928F-B7859F4B2112}"/>
              </a:ext>
            </a:extLst>
          </p:cNvPr>
          <p:cNvSpPr>
            <a:spLocks xmlns:a="http://schemas.openxmlformats.org/drawingml/2006/main" noGrp="1"/>
          </p:cNvSpPr>
          <p:nvPr/>
        </p:nvSpPr>
        <p:spPr>
          <a:xfrm xmlns:a="http://schemas.openxmlformats.org/drawingml/2006/main">
            <a:off x="11334750" y="63436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r">
              <a:defRPr sz="1050">
                <a:solidFill>
                  <a:srgbClr val="64748B"/>
                </a:solidFill>
              </a:defRPr>
            </a:pPr>
            <a:r>
              <a:rPr sz="1050">
                <a:solidFill>
                  <a:srgbClr val="64748B"/>
                </a:solidFill>
              </a:rPr>
              <a:t>2</a:t>
            </a:r>
          </a:p>
        </p:txBody>
      </p:sp>
      <p:sp>
        <p:nvSpPr>
          <p:cNvPr id="3" name="bfs-panel">
            <a:extLst xmlns:a="http://schemas.openxmlformats.org/drawingml/2006/main">
              <a:ext uri="{FF2B5EF4-FFF2-40B4-BE49-F238E27FC236}">
                <a16:creationId xmlns:a16="http://schemas.microsoft.com/office/drawing/2014/main" id="{1D63CFDE-CDF9-47BA-BB6E-402342E8358A}"/>
              </a:ext>
            </a:extLst>
          </p:cNvPr>
          <p:cNvSpPr>
            <a:spLocks xmlns:a="http://schemas.openxmlformats.org/drawingml/2006/main" noGrp="1"/>
          </p:cNvSpPr>
          <p:nvPr/>
        </p:nvSpPr>
        <p:spPr>
          <a:xfrm xmlns:a="http://schemas.openxmlformats.org/drawingml/2006/main">
            <a:off x="514350" y="1381125"/>
            <a:ext cx="5191125" cy="4095750"/>
          </a:xfrm>
          <a:prstGeom xmlns:a="http://schemas.openxmlformats.org/drawingml/2006/main" prst="roundRect">
            <a:avLst>
              <a:gd name="adj" fmla="val 2791"/>
            </a:avLst>
          </a:prstGeom>
          <a:solidFill xmlns:a="http://schemas.openxmlformats.org/drawingml/2006/main">
            <a:srgbClr val="EFF6FF"/>
          </a:solidFill>
          <a:ln xmlns:a="http://schemas.openxmlformats.org/drawingml/2006/main" w="9525">
            <a:solidFill>
              <a:srgbClr val="CBD5E1"/>
            </a:solidFill>
            <a:prstDash val="solid"/>
          </a:ln>
        </p:spPr>
      </p:sp>
      <p:sp>
        <p:nvSpPr>
          <p:cNvPr id="4" name="dfs-panel">
            <a:extLst xmlns:a="http://schemas.openxmlformats.org/drawingml/2006/main">
              <a:ext uri="{FF2B5EF4-FFF2-40B4-BE49-F238E27FC236}">
                <a16:creationId xmlns:a16="http://schemas.microsoft.com/office/drawing/2014/main" id="{98EE96EC-041D-4258-AC7C-04B305B2E3DC}"/>
              </a:ext>
            </a:extLst>
          </p:cNvPr>
          <p:cNvSpPr>
            <a:spLocks xmlns:a="http://schemas.openxmlformats.org/drawingml/2006/main" noGrp="1"/>
          </p:cNvSpPr>
          <p:nvPr/>
        </p:nvSpPr>
        <p:spPr>
          <a:xfrm xmlns:a="http://schemas.openxmlformats.org/drawingml/2006/main">
            <a:off x="6486525" y="1381125"/>
            <a:ext cx="5191125" cy="4095750"/>
          </a:xfrm>
          <a:prstGeom xmlns:a="http://schemas.openxmlformats.org/drawingml/2006/main" prst="roundRect">
            <a:avLst>
              <a:gd name="adj" fmla="val 2791"/>
            </a:avLst>
          </a:prstGeom>
          <a:solidFill xmlns:a="http://schemas.openxmlformats.org/drawingml/2006/main">
            <a:srgbClr val="F8FAFC"/>
          </a:solidFill>
          <a:ln xmlns:a="http://schemas.openxmlformats.org/drawingml/2006/main" w="9525">
            <a:solidFill>
              <a:srgbClr val="CBD5E1"/>
            </a:solidFill>
            <a:prstDash val="solid"/>
          </a:ln>
        </p:spPr>
      </p:sp>
      <p:sp>
        <p:nvSpPr>
          <p:cNvPr id="5" name="bfs-heading">
            <a:extLst xmlns:a="http://schemas.openxmlformats.org/drawingml/2006/main">
              <a:ext uri="{FF2B5EF4-FFF2-40B4-BE49-F238E27FC236}">
                <a16:creationId xmlns:a16="http://schemas.microsoft.com/office/drawing/2014/main" id="{BA1C9187-01C4-462C-B6F9-01F06883AFDA}"/>
              </a:ext>
            </a:extLst>
          </p:cNvPr>
          <p:cNvSpPr>
            <a:spLocks xmlns:a="http://schemas.openxmlformats.org/drawingml/2006/main" noGrp="1"/>
          </p:cNvSpPr>
          <p:nvPr/>
        </p:nvSpPr>
        <p:spPr>
          <a:xfrm xmlns:a="http://schemas.openxmlformats.org/drawingml/2006/main">
            <a:off x="838200" y="173355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2250" b="1">
                <a:solidFill>
                  <a:srgbClr val="1D4ED8"/>
                </a:solidFill>
              </a:defRPr>
            </a:pPr>
            <a:r>
              <a:rPr sz="2250" b="1">
                <a:solidFill>
                  <a:srgbClr val="1D4ED8"/>
                </a:solidFill>
              </a:rPr>
              <a:t>BFS - duyệt theo lớp</a:t>
            </a:r>
          </a:p>
        </p:txBody>
      </p:sp>
      <p:sp>
        <p:nvSpPr>
          <p:cNvPr id="6" name="bfs-body">
            <a:extLst xmlns:a="http://schemas.openxmlformats.org/drawingml/2006/main">
              <a:ext uri="{FF2B5EF4-FFF2-40B4-BE49-F238E27FC236}">
                <a16:creationId xmlns:a16="http://schemas.microsoft.com/office/drawing/2014/main" id="{378A962D-4909-4DE0-84B9-D85103D5BA03}"/>
              </a:ext>
            </a:extLst>
          </p:cNvPr>
          <p:cNvSpPr>
            <a:spLocks xmlns:a="http://schemas.openxmlformats.org/drawingml/2006/main" noGrp="1"/>
          </p:cNvSpPr>
          <p:nvPr/>
        </p:nvSpPr>
        <p:spPr>
          <a:xfrm xmlns:a="http://schemas.openxmlformats.org/drawingml/2006/main">
            <a:off x="838200" y="2476500"/>
            <a:ext cx="4476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725">
                <a:solidFill>
                  <a:srgbClr val="0F172A"/>
                </a:solidFill>
              </a:defRPr>
            </a:pPr>
            <a:r>
              <a:rPr sz="1725">
                <a:solidFill>
                  <a:srgbClr val="0F172A"/>
                </a:solidFill>
              </a:rPr>
              <a:t>BFS dùng hàng đợi. Trong đồ thị không trọng số, BFS tìm đường đi có số cạnh ít nhất.</a:t>
            </a:r>
          </a:p>
          <a:p xmlns:a="http://schemas.openxmlformats.org/drawingml/2006/main">
            <a:r>
              <a:t/>
            </a:r>
          </a:p>
          <a:p xmlns:a="http://schemas.openxmlformats.org/drawingml/2006/main">
            <a:pPr>
              <a:defRPr sz="1725">
                <a:solidFill>
                  <a:srgbClr val="0F172A"/>
                </a:solidFill>
              </a:defRPr>
            </a:pPr>
            <a:r>
              <a:rPr sz="1725">
                <a:solidFill>
                  <a:srgbClr val="0F172A"/>
                </a:solidFill>
              </a:rPr>
              <a:t>Độ phức tạp: O(V + E).</a:t>
            </a:r>
          </a:p>
          <a:p xmlns:a="http://schemas.openxmlformats.org/drawingml/2006/main">
            <a:pPr>
              <a:defRPr sz="1725">
                <a:solidFill>
                  <a:srgbClr val="0F172A"/>
                </a:solidFill>
              </a:defRPr>
            </a:pPr>
            <a:r>
              <a:rPr sz="1725">
                <a:solidFill>
                  <a:srgbClr val="0F172A"/>
                </a:solidFill>
              </a:rPr>
              <a:t>Cụm neo: SF-BFS-QUEUE-14.</a:t>
            </a:r>
          </a:p>
        </p:txBody>
      </p:sp>
      <p:sp>
        <p:nvSpPr>
          <p:cNvPr id="7" name="dfs-heading">
            <a:extLst xmlns:a="http://schemas.openxmlformats.org/drawingml/2006/main">
              <a:ext uri="{FF2B5EF4-FFF2-40B4-BE49-F238E27FC236}">
                <a16:creationId xmlns:a16="http://schemas.microsoft.com/office/drawing/2014/main" id="{85817FBF-DFD8-4257-B10E-78AFEA746513}"/>
              </a:ext>
            </a:extLst>
          </p:cNvPr>
          <p:cNvSpPr>
            <a:spLocks xmlns:a="http://schemas.openxmlformats.org/drawingml/2006/main" noGrp="1"/>
          </p:cNvSpPr>
          <p:nvPr/>
        </p:nvSpPr>
        <p:spPr>
          <a:xfrm xmlns:a="http://schemas.openxmlformats.org/drawingml/2006/main">
            <a:off x="6810375" y="173355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2250" b="1">
                <a:solidFill>
                  <a:srgbClr val="0F172A"/>
                </a:solidFill>
              </a:defRPr>
            </a:pPr>
            <a:r>
              <a:rPr sz="2250" b="1">
                <a:solidFill>
                  <a:srgbClr val="0F172A"/>
                </a:solidFill>
              </a:rPr>
              <a:t>DFS - đi sâu trước</a:t>
            </a:r>
          </a:p>
        </p:txBody>
      </p:sp>
      <p:sp>
        <p:nvSpPr>
          <p:cNvPr id="8" name="dfs-body">
            <a:extLst xmlns:a="http://schemas.openxmlformats.org/drawingml/2006/main">
              <a:ext uri="{FF2B5EF4-FFF2-40B4-BE49-F238E27FC236}">
                <a16:creationId xmlns:a16="http://schemas.microsoft.com/office/drawing/2014/main" id="{2643C32D-8EA3-42E9-BE0B-B19A8AF39558}"/>
              </a:ext>
            </a:extLst>
          </p:cNvPr>
          <p:cNvSpPr>
            <a:spLocks xmlns:a="http://schemas.openxmlformats.org/drawingml/2006/main" noGrp="1"/>
          </p:cNvSpPr>
          <p:nvPr/>
        </p:nvSpPr>
        <p:spPr>
          <a:xfrm xmlns:a="http://schemas.openxmlformats.org/drawingml/2006/main">
            <a:off x="6810375" y="2476500"/>
            <a:ext cx="4476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725">
                <a:solidFill>
                  <a:srgbClr val="0F172A"/>
                </a:solidFill>
              </a:defRPr>
            </a:pPr>
            <a:r>
              <a:rPr sz="1725">
                <a:solidFill>
                  <a:srgbClr val="0F172A"/>
                </a:solidFill>
              </a:rPr>
              <a:t>DFS dùng ngăn xếp hoặc đệ quy. Thuật toán phù hợp với phát hiện chu trình, sắp xếp topo và thành phần liên thông.</a:t>
            </a:r>
          </a:p>
          <a:p xmlns:a="http://schemas.openxmlformats.org/drawingml/2006/main">
            <a:r>
              <a:t/>
            </a:r>
          </a:p>
          <a:p xmlns:a="http://schemas.openxmlformats.org/drawingml/2006/main">
            <a:pPr>
              <a:defRPr sz="1725">
                <a:solidFill>
                  <a:srgbClr val="0F172A"/>
                </a:solidFill>
              </a:defRPr>
            </a:pPr>
            <a:r>
              <a:rPr sz="1725">
                <a:solidFill>
                  <a:srgbClr val="0F172A"/>
                </a:solidFill>
              </a:rPr>
              <a:t>Độ phức tạp: O(V + E).</a:t>
            </a:r>
          </a:p>
          <a:p xmlns:a="http://schemas.openxmlformats.org/drawingml/2006/main">
            <a:pPr>
              <a:defRPr sz="1725">
                <a:solidFill>
                  <a:srgbClr val="0F172A"/>
                </a:solidFill>
              </a:defRPr>
            </a:pPr>
            <a:r>
              <a:rPr sz="1725">
                <a:solidFill>
                  <a:srgbClr val="0F172A"/>
                </a:solidFill>
              </a:rPr>
              <a:t>Cụm neo: SF-DFS-STACK-25.</a:t>
            </a:r>
          </a:p>
        </p:txBody>
      </p:sp>
    </p:spTree>
    <p:extLst>
      <p:ext uri="{BB962C8B-B14F-4D97-AF65-F5344CB8AC3E}">
        <p14:creationId xmlns:p14="http://schemas.microsoft.com/office/powerpoint/2010/main" val="4733339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3">
            <a:extLst xmlns:a="http://schemas.openxmlformats.org/drawingml/2006/main">
              <a:ext uri="{FF2B5EF4-FFF2-40B4-BE49-F238E27FC236}">
                <a16:creationId xmlns:a16="http://schemas.microsoft.com/office/drawing/2014/main" id="{791F9E76-D17E-4B55-B3EE-6A9C4519C1D9}"/>
              </a:ext>
            </a:extLst>
          </p:cNvPr>
          <p:cNvSpPr>
            <a:spLocks xmlns:a="http://schemas.openxmlformats.org/drawingml/2006/main" noGrp="1"/>
          </p:cNvSpPr>
          <p:nvPr/>
        </p:nvSpPr>
        <p:spPr>
          <a:xfrm xmlns:a="http://schemas.openxmlformats.org/drawingml/2006/main">
            <a:off x="514350" y="342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3000" b="1">
                <a:solidFill>
                  <a:srgbClr val="0F172A"/>
                </a:solidFill>
              </a:defRPr>
            </a:pPr>
            <a:r>
              <a:rPr sz="3000" b="1">
                <a:solidFill>
                  <a:srgbClr val="0F172A"/>
                </a:solidFill>
              </a:rPr>
              <a:t>Dijkstra cần trọng số cạnh không âm</a:t>
            </a:r>
          </a:p>
        </p:txBody>
      </p:sp>
      <p:sp>
        <p:nvSpPr>
          <p:cNvPr id="2" name="page-3">
            <a:extLst xmlns:a="http://schemas.openxmlformats.org/drawingml/2006/main">
              <a:ext uri="{FF2B5EF4-FFF2-40B4-BE49-F238E27FC236}">
                <a16:creationId xmlns:a16="http://schemas.microsoft.com/office/drawing/2014/main" id="{D0B3B6DE-4D3D-479F-AD7E-1DADC57C5126}"/>
              </a:ext>
            </a:extLst>
          </p:cNvPr>
          <p:cNvSpPr>
            <a:spLocks xmlns:a="http://schemas.openxmlformats.org/drawingml/2006/main" noGrp="1"/>
          </p:cNvSpPr>
          <p:nvPr/>
        </p:nvSpPr>
        <p:spPr>
          <a:xfrm xmlns:a="http://schemas.openxmlformats.org/drawingml/2006/main">
            <a:off x="11334750" y="63436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r">
              <a:defRPr sz="1050">
                <a:solidFill>
                  <a:srgbClr val="64748B"/>
                </a:solidFill>
              </a:defRPr>
            </a:pPr>
            <a:r>
              <a:rPr sz="1050">
                <a:solidFill>
                  <a:srgbClr val="64748B"/>
                </a:solidFill>
              </a:rPr>
              <a:t>3</a:t>
            </a:r>
          </a:p>
        </p:txBody>
      </p:sp>
      <p:sp>
        <p:nvSpPr>
          <p:cNvPr id="3" name="dijkstra-summary">
            <a:extLst xmlns:a="http://schemas.openxmlformats.org/drawingml/2006/main">
              <a:ext uri="{FF2B5EF4-FFF2-40B4-BE49-F238E27FC236}">
                <a16:creationId xmlns:a16="http://schemas.microsoft.com/office/drawing/2014/main" id="{DE58FFF3-FC4D-4100-AF8D-3D374CC8264B}"/>
              </a:ext>
            </a:extLst>
          </p:cNvPr>
          <p:cNvSpPr>
            <a:spLocks xmlns:a="http://schemas.openxmlformats.org/drawingml/2006/main" noGrp="1"/>
          </p:cNvSpPr>
          <p:nvPr/>
        </p:nvSpPr>
        <p:spPr>
          <a:xfrm xmlns:a="http://schemas.openxmlformats.org/drawingml/2006/main">
            <a:off x="514350" y="1238250"/>
            <a:ext cx="11144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1800">
                <a:solidFill>
                  <a:srgbClr val="0F172A"/>
                </a:solidFill>
              </a:defRPr>
            </a:pPr>
            <a:r>
              <a:rPr sz="1800">
                <a:solidFill>
                  <a:srgbClr val="0F172A"/>
                </a:solidFill>
              </a:rPr>
              <a:t>Thuật toán duy trì khoảng cách tạm thời từ đỉnh nguồn và luôn chọn đỉnh chưa xét có khoảng cách nhỏ nhất. Với hàng đợi ưu tiên, độ phức tạp thường là O((V + E) log V). Cụm neo: SF-DIJKSTRA-NONNEGATIVE-37.</a:t>
            </a:r>
          </a:p>
        </p:txBody>
      </p:sp>
      <p:graphicFrame>
        <p:nvGraphicFramePr>
          <p:cNvPr id="8" name=""/>
          <p:cNvGraphicFramePr/>
          <p:nvPr/>
        </p:nvGraphicFramePr>
        <p:xfrm>
          <a:off xmlns:a="http://schemas.openxmlformats.org/drawingml/2006/main" x="514350" y="2762250"/>
          <a:ext xmlns:a="http://schemas.openxmlformats.org/drawingml/2006/main" cx="11144250" cy="2667000"/>
        </p:xfrm>
        <a:graphic xmlns:a="http://schemas.openxmlformats.org/drawingml/2006/main">
          <a:graphicData uri="http://schemas.openxmlformats.org/drawingml/2006/table">
            <a:tbl>
              <a:tblPr firstRow="1" bandRow="1"/>
              <a:tblGrid>
                <a:gridCol w="2428875"/>
                <a:gridCol w="2428875"/>
                <a:gridCol w="3429000"/>
                <a:gridCol w="2857500"/>
              </a:tblGrid>
              <a:tr h="666750">
                <a:tc>
                  <a:txBody>
                    <a:bodyPr/>
                    <a:lstStyle/>
                    <a:p>
                      <a:r>
                        <a:rPr sz="1350" b="1"/>
                        <a:t>Thuật toán</a:t>
                      </a:r>
                    </a:p>
                  </a:txBody>
                  <a:tcPr marL="91440" marR="91440" marT="45720" marB="45720">
                    <a:solidFill>
                      <a:srgbClr val="DBEAFE"/>
                    </a:solidFill>
                  </a:tcPr>
                </a:tc>
                <a:tc>
                  <a:txBody>
                    <a:bodyPr/>
                    <a:lstStyle/>
                    <a:p>
                      <a:r>
                        <a:rPr sz="1350" b="1"/>
                        <a:t>Trọng số âm</a:t>
                      </a:r>
                    </a:p>
                  </a:txBody>
                  <a:tcPr marL="91440" marR="91440" marT="45720" marB="45720">
                    <a:solidFill>
                      <a:srgbClr val="DBEAFE"/>
                    </a:solidFill>
                  </a:tcPr>
                </a:tc>
                <a:tc>
                  <a:txBody>
                    <a:bodyPr/>
                    <a:lstStyle/>
                    <a:p>
                      <a:r>
                        <a:rPr sz="1350" b="1"/>
                        <a:t>Cấu trúc chính</a:t>
                      </a:r>
                    </a:p>
                  </a:txBody>
                  <a:tcPr marL="91440" marR="91440" marT="45720" marB="45720">
                    <a:solidFill>
                      <a:srgbClr val="DBEAFE"/>
                    </a:solidFill>
                  </a:tcPr>
                </a:tc>
                <a:tc>
                  <a:txBody>
                    <a:bodyPr/>
                    <a:lstStyle/>
                    <a:p>
                      <a:r>
                        <a:rPr sz="1350" b="1"/>
                        <a:t>Độ phức tạp</a:t>
                      </a:r>
                    </a:p>
                  </a:txBody>
                  <a:tcPr marL="91440" marR="91440" marT="45720" marB="45720">
                    <a:solidFill>
                      <a:srgbClr val="DBEAFE"/>
                    </a:solidFill>
                  </a:tcPr>
                </a:tc>
              </a:tr>
              <a:tr h="666750">
                <a:tc>
                  <a:txBody>
                    <a:bodyPr/>
                    <a:lstStyle/>
                    <a:p>
                      <a:r>
                        <a:rPr sz="1350"/>
                        <a:t>BFS</a:t>
                      </a:r>
                    </a:p>
                  </a:txBody>
                  <a:tcPr marL="91440" marR="91440" marT="45720" marB="45720"/>
                </a:tc>
                <a:tc>
                  <a:txBody>
                    <a:bodyPr/>
                    <a:lstStyle/>
                    <a:p>
                      <a:r>
                        <a:rPr sz="1350"/>
                        <a:t>Không xét trọng số</a:t>
                      </a:r>
                    </a:p>
                  </a:txBody>
                  <a:tcPr marL="91440" marR="91440" marT="45720" marB="45720"/>
                </a:tc>
                <a:tc>
                  <a:txBody>
                    <a:bodyPr/>
                    <a:lstStyle/>
                    <a:p>
                      <a:r>
                        <a:rPr sz="1350"/>
                        <a:t>Hàng đợi</a:t>
                      </a:r>
                    </a:p>
                  </a:txBody>
                  <a:tcPr marL="91440" marR="91440" marT="45720" marB="45720"/>
                </a:tc>
                <a:tc>
                  <a:txBody>
                    <a:bodyPr/>
                    <a:lstStyle/>
                    <a:p>
                      <a:r>
                        <a:rPr sz="1350"/>
                        <a:t>O(V + E)</a:t>
                      </a:r>
                    </a:p>
                  </a:txBody>
                  <a:tcPr marL="91440" marR="91440" marT="45720" marB="45720"/>
                </a:tc>
              </a:tr>
              <a:tr h="666750">
                <a:tc>
                  <a:txBody>
                    <a:bodyPr/>
                    <a:lstStyle/>
                    <a:p>
                      <a:r>
                        <a:rPr sz="1350"/>
                        <a:t>Dijkstra</a:t>
                      </a:r>
                    </a:p>
                  </a:txBody>
                  <a:tcPr marL="91440" marR="91440" marT="45720" marB="45720"/>
                </a:tc>
                <a:tc>
                  <a:txBody>
                    <a:bodyPr/>
                    <a:lstStyle/>
                    <a:p>
                      <a:r>
                        <a:rPr sz="1350"/>
                        <a:t>Không hỗ trợ</a:t>
                      </a:r>
                    </a:p>
                  </a:txBody>
                  <a:tcPr marL="91440" marR="91440" marT="45720" marB="45720"/>
                </a:tc>
                <a:tc>
                  <a:txBody>
                    <a:bodyPr/>
                    <a:lstStyle/>
                    <a:p>
                      <a:r>
                        <a:rPr sz="1350"/>
                        <a:t>Hàng đợi ưu tiên</a:t>
                      </a:r>
                    </a:p>
                  </a:txBody>
                  <a:tcPr marL="91440" marR="91440" marT="45720" marB="45720"/>
                </a:tc>
                <a:tc>
                  <a:txBody>
                    <a:bodyPr/>
                    <a:lstStyle/>
                    <a:p>
                      <a:r>
                        <a:rPr sz="1350"/>
                        <a:t>O((V+E) log V)</a:t>
                      </a:r>
                    </a:p>
                  </a:txBody>
                  <a:tcPr marL="91440" marR="91440" marT="45720" marB="45720"/>
                </a:tc>
              </a:tr>
              <a:tr h="666750">
                <a:tc>
                  <a:txBody>
                    <a:bodyPr/>
                    <a:lstStyle/>
                    <a:p>
                      <a:r>
                        <a:rPr sz="1350"/>
                        <a:t>Bellman-Ford</a:t>
                      </a:r>
                    </a:p>
                  </a:txBody>
                  <a:tcPr marL="91440" marR="91440" marT="45720" marB="45720"/>
                </a:tc>
                <a:tc>
                  <a:txBody>
                    <a:bodyPr/>
                    <a:lstStyle/>
                    <a:p>
                      <a:r>
                        <a:rPr sz="1350"/>
                        <a:t>Có hỗ trợ</a:t>
                      </a:r>
                    </a:p>
                  </a:txBody>
                  <a:tcPr marL="91440" marR="91440" marT="45720" marB="45720"/>
                </a:tc>
                <a:tc>
                  <a:txBody>
                    <a:bodyPr/>
                    <a:lstStyle/>
                    <a:p>
                      <a:r>
                        <a:rPr sz="1350"/>
                        <a:t>Mảng khoảng cách</a:t>
                      </a:r>
                    </a:p>
                  </a:txBody>
                  <a:tcPr marL="91440" marR="91440" marT="45720" marB="45720"/>
                </a:tc>
                <a:tc>
                  <a:txBody>
                    <a:bodyPr/>
                    <a:lstStyle/>
                    <a:p>
                      <a:r>
                        <a:rPr sz="1350"/>
                        <a:t>O(VE)</a:t>
                      </a:r>
                    </a:p>
                  </a:txBody>
                  <a:tcPr marL="91440" marR="91440" marT="45720" marB="45720"/>
                </a:tc>
              </a:tr>
            </a:tbl>
          </a:graphicData>
        </a:graphic>
      </p:graphicFrame>
    </p:spTree>
    <p:extLst>
      <p:ext uri="{BB962C8B-B14F-4D97-AF65-F5344CB8AC3E}">
        <p14:creationId xmlns:p14="http://schemas.microsoft.com/office/powerpoint/2010/main" val="17935887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4">
            <a:extLst xmlns:a="http://schemas.openxmlformats.org/drawingml/2006/main">
              <a:ext uri="{FF2B5EF4-FFF2-40B4-BE49-F238E27FC236}">
                <a16:creationId xmlns:a16="http://schemas.microsoft.com/office/drawing/2014/main" id="{762F1484-21C6-4082-8793-D179A471C9AC}"/>
              </a:ext>
            </a:extLst>
          </p:cNvPr>
          <p:cNvSpPr>
            <a:spLocks xmlns:a="http://schemas.openxmlformats.org/drawingml/2006/main" noGrp="1"/>
          </p:cNvSpPr>
          <p:nvPr/>
        </p:nvSpPr>
        <p:spPr>
          <a:xfrm xmlns:a="http://schemas.openxmlformats.org/drawingml/2006/main">
            <a:off x="514350" y="342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3000" b="1">
                <a:solidFill>
                  <a:srgbClr val="0F172A"/>
                </a:solidFill>
              </a:defRPr>
            </a:pPr>
            <a:r>
              <a:rPr sz="3000" b="1">
                <a:solidFill>
                  <a:srgbClr val="0F172A"/>
                </a:solidFill>
              </a:rPr>
              <a:t>Đồ thị thưa làm lợi thế của hàng đợi ưu tiên rõ hơn</a:t>
            </a:r>
          </a:p>
        </p:txBody>
      </p:sp>
      <p:sp>
        <p:nvSpPr>
          <p:cNvPr id="2" name="page-4">
            <a:extLst xmlns:a="http://schemas.openxmlformats.org/drawingml/2006/main">
              <a:ext uri="{FF2B5EF4-FFF2-40B4-BE49-F238E27FC236}">
                <a16:creationId xmlns:a16="http://schemas.microsoft.com/office/drawing/2014/main" id="{53C0C8B6-6D85-492F-8940-EA8A65D7DDEF}"/>
              </a:ext>
            </a:extLst>
          </p:cNvPr>
          <p:cNvSpPr>
            <a:spLocks xmlns:a="http://schemas.openxmlformats.org/drawingml/2006/main" noGrp="1"/>
          </p:cNvSpPr>
          <p:nvPr/>
        </p:nvSpPr>
        <p:spPr>
          <a:xfrm xmlns:a="http://schemas.openxmlformats.org/drawingml/2006/main">
            <a:off x="11334750" y="63436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r">
              <a:defRPr sz="1050">
                <a:solidFill>
                  <a:srgbClr val="64748B"/>
                </a:solidFill>
              </a:defRPr>
            </a:pPr>
            <a:r>
              <a:rPr sz="1050">
                <a:solidFill>
                  <a:srgbClr val="64748B"/>
                </a:solidFill>
              </a:rPr>
              <a:t>4</a:t>
            </a:r>
          </a:p>
        </p:txBody>
      </p:sp>
      <p:graphicFrame>
        <p:nvGraphicFramePr>
          <p:cNvPr id="9" name="Chart"/>
          <p:cNvGraphicFramePr/>
          <p:nvPr/>
        </p:nvGraphicFramePr>
        <p:xfrm>
          <a:off xmlns:a="http://schemas.openxmlformats.org/drawingml/2006/main" x="514350" y="1381125"/>
          <a:ext xmlns:a="http://schemas.openxmlformats.org/drawingml/2006/main" cx="6762750" cy="4572000"/>
        </p:xfrm>
        <a:graphic xmlns:a="http://schemas.openxmlformats.org/drawingml/2006/main">
          <a:graphicData uri="http://schemas.openxmlformats.org/drawingml/2006/chart">
            <c:chart xmlns:r="http://schemas.openxmlformats.org/officeDocument/2006/relationships" xmlns:c="http://schemas.openxmlformats.org/drawingml/2006/chart" r:id="R435a2f31a7fc4ccb"/>
          </a:graphicData>
        </a:graphic>
      </p:graphicFrame>
      <p:sp>
        <p:nvSpPr>
          <p:cNvPr id="4" name="chart-note">
            <a:extLst xmlns:a="http://schemas.openxmlformats.org/drawingml/2006/main">
              <a:ext uri="{FF2B5EF4-FFF2-40B4-BE49-F238E27FC236}">
                <a16:creationId xmlns:a16="http://schemas.microsoft.com/office/drawing/2014/main" id="{CA416226-873B-492F-A0EF-27067C5DDBBC}"/>
              </a:ext>
            </a:extLst>
          </p:cNvPr>
          <p:cNvSpPr>
            <a:spLocks xmlns:a="http://schemas.openxmlformats.org/drawingml/2006/main" noGrp="1"/>
          </p:cNvSpPr>
          <p:nvPr/>
        </p:nvSpPr>
        <p:spPr>
          <a:xfrm xmlns:a="http://schemas.openxmlformats.org/drawingml/2006/main">
            <a:off x="7810500" y="1666875"/>
            <a:ext cx="3857625" cy="2952750"/>
          </a:xfrm>
          <a:prstGeom xmlns:a="http://schemas.openxmlformats.org/drawingml/2006/main" prst="roundRect">
            <a:avLst>
              <a:gd name="adj" fmla="val 3871"/>
            </a:avLst>
          </a:prstGeom>
          <a:solidFill xmlns:a="http://schemas.openxmlformats.org/drawingml/2006/main">
            <a:srgbClr val="EFF6FF"/>
          </a:solidFill>
          <a:ln xmlns:a="http://schemas.openxmlformats.org/drawingml/2006/main" w="9525">
            <a:solidFill>
              <a:srgbClr val="CBD5E1"/>
            </a:solidFill>
            <a:prstDash val="solid"/>
          </a:ln>
        </p:spPr>
      </p:sp>
      <p:sp>
        <p:nvSpPr>
          <p:cNvPr id="5" name="chart-note-title">
            <a:extLst xmlns:a="http://schemas.openxmlformats.org/drawingml/2006/main">
              <a:ext uri="{FF2B5EF4-FFF2-40B4-BE49-F238E27FC236}">
                <a16:creationId xmlns:a16="http://schemas.microsoft.com/office/drawing/2014/main" id="{6931949D-54E7-4B8D-A6AD-7B07F5CCE540}"/>
              </a:ext>
            </a:extLst>
          </p:cNvPr>
          <p:cNvSpPr>
            <a:spLocks xmlns:a="http://schemas.openxmlformats.org/drawingml/2006/main" noGrp="1"/>
          </p:cNvSpPr>
          <p:nvPr/>
        </p:nvSpPr>
        <p:spPr>
          <a:xfrm xmlns:a="http://schemas.openxmlformats.org/drawingml/2006/main">
            <a:off x="8143875" y="201930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defRPr sz="2100" b="1">
                <a:solidFill>
                  <a:srgbClr val="1D4ED8"/>
                </a:solidFill>
              </a:defRPr>
            </a:pPr>
            <a:r>
              <a:rPr sz="2100" b="1">
                <a:solidFill>
                  <a:srgbClr val="1D4ED8"/>
                </a:solidFill>
              </a:rPr>
              <a:t>Cách đọc biểu đồ</a:t>
            </a:r>
          </a:p>
        </p:txBody>
      </p:sp>
      <p:sp>
        <p:nvSpPr>
          <p:cNvPr id="6" name="chart-note-body">
            <a:extLst xmlns:a="http://schemas.openxmlformats.org/drawingml/2006/main">
              <a:ext uri="{FF2B5EF4-FFF2-40B4-BE49-F238E27FC236}">
                <a16:creationId xmlns:a16="http://schemas.microsoft.com/office/drawing/2014/main" id="{A9CB0459-36EF-49DA-8313-A70EA1543E09}"/>
              </a:ext>
            </a:extLst>
          </p:cNvPr>
          <p:cNvSpPr>
            <a:spLocks xmlns:a="http://schemas.openxmlformats.org/drawingml/2006/main" noGrp="1"/>
          </p:cNvSpPr>
          <p:nvPr/>
        </p:nvSpPr>
        <p:spPr>
          <a:xfrm xmlns:a="http://schemas.openxmlformats.org/drawingml/2006/main">
            <a:off x="8143875" y="2809875"/>
            <a:ext cx="3143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857"/>
          </a:bodyPr>
          <a:lstStyle xmlns:a="http://schemas.openxmlformats.org/drawingml/2006/main"/>
          <a:p xmlns:a="http://schemas.openxmlformats.org/drawingml/2006/main">
            <a:pPr>
              <a:defRPr sz="1575">
                <a:solidFill>
                  <a:srgbClr val="0F172A"/>
                </a:solidFill>
              </a:defRPr>
            </a:pPr>
            <a:r>
              <a:rPr sz="1575">
                <a:solidFill>
                  <a:srgbClr val="0F172A"/>
                </a:solidFill>
              </a:rPr>
              <a:t>Số liệu là dữ liệu tổng hợp để kiểm thử khả năng nhận nhãn và chú thích. Không dùng làm kết luận hiệu năng thực tế.</a:t>
            </a:r>
          </a:p>
          <a:p xmlns:a="http://schemas.openxmlformats.org/drawingml/2006/main">
            <a:r>
              <a:t/>
            </a:r>
          </a:p>
          <a:p xmlns:a="http://schemas.openxmlformats.org/drawingml/2006/main">
            <a:pPr>
              <a:defRPr sz="1575">
                <a:solidFill>
                  <a:srgbClr val="0F172A"/>
                </a:solidFill>
              </a:defRPr>
            </a:pPr>
            <a:r>
              <a:rPr sz="1575">
                <a:solidFill>
                  <a:srgbClr val="0F172A"/>
                </a:solidFill>
              </a:rPr>
              <a:t>Mã: SF-CHART-DIJKSTRA-90.</a:t>
            </a:r>
          </a:p>
        </p:txBody>
      </p:sp>
    </p:spTree>
    <p:extLst>
      <p:ext uri="{BB962C8B-B14F-4D97-AF65-F5344CB8AC3E}">
        <p14:creationId xmlns:p14="http://schemas.microsoft.com/office/powerpoint/2010/main" val="15846567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2026-08-15T16:15:34.0060000Z</dcterms:created>
  <dcterms:modified xsi:type="dcterms:W3CDTF">2026-08-15T16:15:34.0060000Z</dcterms:modified>
</coreProperties>
</file>